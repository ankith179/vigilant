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c20b2df95564f4f" /><Relationship Type="http://schemas.openxmlformats.org/officeDocument/2006/relationships/extended-properties" Target="/docProps/app.xml" Id="R898500a1c4f84293" /><Relationship Type="http://schemas.openxmlformats.org/officeDocument/2006/relationships/officeDocument" Target="/ppt/presentation.xml" Id="Rc86a0dac561d471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b43a101dc864310"/>
  </p:sldMasterIdLst>
  <p:notesMasterIdLst>
    <p:notesMasterId xmlns:r="http://schemas.openxmlformats.org/officeDocument/2006/relationships" r:id="R9e3c674c70d3446c"/>
  </p:notesMasterIdLst>
  <p:sldIdLst>
    <p:sldId xmlns:r="http://schemas.openxmlformats.org/officeDocument/2006/relationships" id="256" r:id="R37072444885a4da6"/>
    <p:sldId xmlns:r="http://schemas.openxmlformats.org/officeDocument/2006/relationships" id="257" r:id="R518351cffebf41a9"/>
    <p:sldId xmlns:r="http://schemas.openxmlformats.org/officeDocument/2006/relationships" id="258" r:id="R7b68914ee1224815"/>
    <p:sldId xmlns:r="http://schemas.openxmlformats.org/officeDocument/2006/relationships" id="259" r:id="Rd8a3f733b41d40fa"/>
    <p:sldId xmlns:r="http://schemas.openxmlformats.org/officeDocument/2006/relationships" id="260" r:id="R9211807c88644a5f"/>
    <p:sldId xmlns:r="http://schemas.openxmlformats.org/officeDocument/2006/relationships" id="261" r:id="Rdbb6063b1db74428"/>
    <p:sldId xmlns:r="http://schemas.openxmlformats.org/officeDocument/2006/relationships" id="262" r:id="R5c7722cfd3414d0e"/>
    <p:sldId xmlns:r="http://schemas.openxmlformats.org/officeDocument/2006/relationships" id="263" r:id="R7dd54ece1afb45d6"/>
    <p:sldId xmlns:r="http://schemas.openxmlformats.org/officeDocument/2006/relationships" id="264" r:id="R718e66e5d3ce4be9"/>
    <p:sldId xmlns:r="http://schemas.openxmlformats.org/officeDocument/2006/relationships" id="265" r:id="R3a896d6e779d4de2"/>
    <p:sldId xmlns:r="http://schemas.openxmlformats.org/officeDocument/2006/relationships" id="266" r:id="Rd23f360fe3b14753"/>
    <p:sldId xmlns:r="http://schemas.openxmlformats.org/officeDocument/2006/relationships" id="267" r:id="R5de74cfc39364c9e"/>
    <p:sldId xmlns:r="http://schemas.openxmlformats.org/officeDocument/2006/relationships" id="268" r:id="R2b2aac1e34794e30"/>
    <p:sldId xmlns:r="http://schemas.openxmlformats.org/officeDocument/2006/relationships" id="269" r:id="R16a6ac6b34144ea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dcbc4ec1c804711" /><Relationship Type="http://schemas.openxmlformats.org/officeDocument/2006/relationships/slideMaster" Target="/ppt/slideMasters/slideMaster1.xml" Id="Rab43a101dc864310" /><Relationship Type="http://schemas.openxmlformats.org/officeDocument/2006/relationships/notesMaster" Target="/ppt/notesMasters/notesMaster1.xml" Id="R9e3c674c70d3446c" /><Relationship Type="http://schemas.openxmlformats.org/officeDocument/2006/relationships/presProps" Target="/ppt/presProps.xml" Id="R97bced8043634cc2" /><Relationship Type="http://schemas.openxmlformats.org/officeDocument/2006/relationships/tableStyles" Target="/ppt/tableStyles.xml" Id="Ref4cfc37600441a7" /><Relationship Type="http://schemas.openxmlformats.org/officeDocument/2006/relationships/slide" Target="/ppt/slides/slide1.xml" Id="R37072444885a4da6" /><Relationship Type="http://schemas.openxmlformats.org/officeDocument/2006/relationships/slide" Target="/ppt/slides/slide2.xml" Id="R518351cffebf41a9" /><Relationship Type="http://schemas.openxmlformats.org/officeDocument/2006/relationships/slide" Target="/ppt/slides/slide3.xml" Id="R7b68914ee1224815" /><Relationship Type="http://schemas.openxmlformats.org/officeDocument/2006/relationships/slide" Target="/ppt/slides/slide4.xml" Id="Rd8a3f733b41d40fa" /><Relationship Type="http://schemas.openxmlformats.org/officeDocument/2006/relationships/slide" Target="/ppt/slides/slide5.xml" Id="R9211807c88644a5f" /><Relationship Type="http://schemas.openxmlformats.org/officeDocument/2006/relationships/slide" Target="/ppt/slides/slide6.xml" Id="Rdbb6063b1db74428" /><Relationship Type="http://schemas.openxmlformats.org/officeDocument/2006/relationships/slide" Target="/ppt/slides/slide7.xml" Id="R5c7722cfd3414d0e" /><Relationship Type="http://schemas.openxmlformats.org/officeDocument/2006/relationships/slide" Target="/ppt/slides/slide8.xml" Id="R7dd54ece1afb45d6" /><Relationship Type="http://schemas.openxmlformats.org/officeDocument/2006/relationships/slide" Target="/ppt/slides/slide9.xml" Id="R718e66e5d3ce4be9" /><Relationship Type="http://schemas.openxmlformats.org/officeDocument/2006/relationships/slide" Target="/ppt/slides/slide10.xml" Id="R3a896d6e779d4de2" /><Relationship Type="http://schemas.openxmlformats.org/officeDocument/2006/relationships/slide" Target="/ppt/slides/slide11.xml" Id="Rd23f360fe3b14753" /><Relationship Type="http://schemas.openxmlformats.org/officeDocument/2006/relationships/slide" Target="/ppt/slides/slide12.xml" Id="R5de74cfc39364c9e" /><Relationship Type="http://schemas.openxmlformats.org/officeDocument/2006/relationships/slide" Target="/ppt/slides/slide13.xml" Id="R2b2aac1e34794e30" /><Relationship Type="http://schemas.openxmlformats.org/officeDocument/2006/relationships/slide" Target="/ppt/slides/slide14.xml" Id="R16a6ac6b34144ea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e2cb75dcbef47c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1cc25314cd4016" /><Relationship Type="http://schemas.openxmlformats.org/officeDocument/2006/relationships/notesMaster" Target="/ppt/notesMasters/notesMaster1.xml" Id="R97fb62cc808846f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24cbb51f51f4c44" /><Relationship Type="http://schemas.openxmlformats.org/officeDocument/2006/relationships/notesMaster" Target="/ppt/notesMasters/notesMaster1.xml" Id="R031b6a95641446a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adf7728ac7d49ee" /><Relationship Type="http://schemas.openxmlformats.org/officeDocument/2006/relationships/notesMaster" Target="/ppt/notesMasters/notesMaster1.xml" Id="Rb2ff29fc3856432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b6388a95f424951" /><Relationship Type="http://schemas.openxmlformats.org/officeDocument/2006/relationships/notesMaster" Target="/ppt/notesMasters/notesMaster1.xml" Id="R0eb7995dcd56461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a51cac6958248a7" /><Relationship Type="http://schemas.openxmlformats.org/officeDocument/2006/relationships/notesMaster" Target="/ppt/notesMasters/notesMaster1.xml" Id="Rdcf7597642124bb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9f3dfb1c8bd43e3" /><Relationship Type="http://schemas.openxmlformats.org/officeDocument/2006/relationships/notesMaster" Target="/ppt/notesMasters/notesMaster1.xml" Id="R333e5faa7c5848f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27c1f9616694bab" /><Relationship Type="http://schemas.openxmlformats.org/officeDocument/2006/relationships/notesMaster" Target="/ppt/notesMasters/notesMaster1.xml" Id="R0b8039b9e8214b4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0736b04acf54249" /><Relationship Type="http://schemas.openxmlformats.org/officeDocument/2006/relationships/notesMaster" Target="/ppt/notesMasters/notesMaster1.xml" Id="R3ef5d9d56cb6474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2e6635403e5415b" /><Relationship Type="http://schemas.openxmlformats.org/officeDocument/2006/relationships/notesMaster" Target="/ppt/notesMasters/notesMaster1.xml" Id="R37a0c8a0676b49e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8d3e71ff795419c" /><Relationship Type="http://schemas.openxmlformats.org/officeDocument/2006/relationships/notesMaster" Target="/ppt/notesMasters/notesMaster1.xml" Id="R6f4b661de311406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59c9a0474604f4f" /><Relationship Type="http://schemas.openxmlformats.org/officeDocument/2006/relationships/notesMaster" Target="/ppt/notesMasters/notesMaster1.xml" Id="R1f914d60ee834d0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114660e8af0457c" /><Relationship Type="http://schemas.openxmlformats.org/officeDocument/2006/relationships/notesMaster" Target="/ppt/notesMasters/notesMaster1.xml" Id="R34fe1fc49cc4433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7bf9e95a0fb4e7a" /><Relationship Type="http://schemas.openxmlformats.org/officeDocument/2006/relationships/notesMaster" Target="/ppt/notesMasters/notesMaster1.xml" Id="R60a58d6b26c046a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1720309cda1458b" /><Relationship Type="http://schemas.openxmlformats.org/officeDocument/2006/relationships/notesMaster" Target="/ppt/notesMasters/notesMaster1.xml" Id="Re57d6bb7ce0348a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Technical demonstration draft. Add confirmed author, supervisor and institutional details before the final viva. The deck uses executed experiment records and reports negative findings explicitly.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reports/results/summary.json and its immutable experiment provenance.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docs/INTERFACE_CONTRACTS.md, knowledge_graph/graph.py and workflow execution in experiments/pipeline/20261006T195007-e56e6b8d/results.json. Diagram summarizes implemented data flow. Similarity links remain candidates.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reports/submission/demo-evidence.json, extracted read-only from data/snapshots/vigilant.db. Baseline 1762adac607a1b29cfc4da129557780beea71616; changed 892a3d5213e950be40467f4a0c8cfb33d12e8132. Native diagram displays recorded static EXPOSES_API and exact-literal-contract CONSUMES_API edges. Structural matching is heuristic and does not establish a defect.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reports/results/summary.json and its immutable experiment provenance.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reports/results/summary.json and its immutable experiment provenance.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reports/results/summary.json and its immutable experiment provenance.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reports/results/summary.json and its immutable experiment provenance.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docs/DEMO_RECORD.md and experiments/pipeline/20261006T195007-e56e6b8d/results.json. Baseline 1762adac607a1b29cfc4da129557780beea71616; changed 892a3d5213e950be40467f4a0c8cfb33d12e8132. These are recorded outputs, not a claim that the browser demonstration ran in this environment.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experiments/pipeline/20261006T195007-e56e6b8d/results.json. Actual ordered trajectory: resolve-commits, import-snapshots, git-diff-symbol-hashes, base-graph, head-graph, two-snapshot-impact, bounded-trace-recovery, retrieve-grounded-context, deterministic-rules, validate-quotes-ranges-hashes, structured-model-call, persist-report. All twelve stages recorded SUCCESS. Named roles follow a fixed workflow rather than autonomous tool planning.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docs/DEMO_RECORD.md. Evidence 41a15f4d521cebdbac2a7cbb8cad870a53288742fccc9cdb0b1183a335c3bf7a, frontend/src/client/sdk.gen.ts lines 340–343 at 892a3d5213e950be40467f4a0c8cfb33d12e8132. Quote validation checks source equality, not semantic entailment.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README.md, docs/DEMO_RECORD.md, windows installation scripts and immutable pipeline record. Browser navigation remains unverified in this environment. No Windows execution has been observed.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reports/results/summary.json and its immutable experiment provenance.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reports/results/summary.json and its immutable experiment provenance.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aef4ca7d4743b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fff79187c94ad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033b863b0249b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d68b9af2ed42a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144b4d81e3466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b8bdae84584cf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16DA666-4E58-4AB6-8803-10E9EC0542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580E78A-4790-458F-99E8-6E6B671C741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B7B76F6-6310-42C4-B1D0-E18BDAE67C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5857AE3-C039-4B6D-8A40-9A8D6F94AB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4C6E345-531E-4D58-80A2-4EEF1D8D9BE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02DAEEB-6E89-4F4B-BAA9-C078E17937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CF632DD-AA44-443E-88AA-2971B9D358A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3C88D37-214D-4C75-BE10-9A44557D2E8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43CFD44-DE5C-449F-A577-E212499F4B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B2F0E0A-F395-4AC3-B5A5-81BEB073F6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03448c8d786407f" /><Relationship Type="http://schemas.openxmlformats.org/officeDocument/2006/relationships/slideLayout" Target="/ppt/slideLayouts/slideLayout1.xml" Id="R17f54a64c5d1431c" /><Relationship Type="http://schemas.openxmlformats.org/officeDocument/2006/relationships/slideLayout" Target="/ppt/slideLayouts/slideLayout2.xml" Id="R43b433aa4ac449f5" /><Relationship Type="http://schemas.openxmlformats.org/officeDocument/2006/relationships/slideLayout" Target="/ppt/slideLayouts/slideLayout3.xml" Id="Rbc60a1a1fb9744f3" /><Relationship Type="http://schemas.openxmlformats.org/officeDocument/2006/relationships/slideLayout" Target="/ppt/slideLayouts/slideLayout4.xml" Id="R9f96d0a495bb499e" /><Relationship Type="http://schemas.openxmlformats.org/officeDocument/2006/relationships/slideLayout" Target="/ppt/slideLayouts/slideLayout5.xml" Id="Rab36927cd6504a38" /><Relationship Type="http://schemas.openxmlformats.org/officeDocument/2006/relationships/slideLayout" Target="/ppt/slideLayouts/slideLayout6.xml" Id="Rdc697f1c89f448b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7f54a64c5d1431c"/>
    <p:sldLayoutId xmlns:r="http://schemas.openxmlformats.org/officeDocument/2006/relationships" id="2147483650" r:id="R43b433aa4ac449f5"/>
    <p:sldLayoutId xmlns:r="http://schemas.openxmlformats.org/officeDocument/2006/relationships" id="2147483651" r:id="Rbc60a1a1fb9744f3"/>
    <p:sldLayoutId xmlns:r="http://schemas.openxmlformats.org/officeDocument/2006/relationships" id="2147483652" r:id="R9f96d0a495bb499e"/>
    <p:sldLayoutId xmlns:r="http://schemas.openxmlformats.org/officeDocument/2006/relationships" id="2147483653" r:id="Rab36927cd6504a38"/>
    <p:sldLayoutId xmlns:r="http://schemas.openxmlformats.org/officeDocument/2006/relationships" id="2147483654" r:id="Rdc697f1c89f448b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667d6ffeb84464" /><Relationship Type="http://schemas.openxmlformats.org/officeDocument/2006/relationships/notesSlide" Target="/ppt/notesSlides/notesSlide1.xml" Id="R1c6cb34d9a7e413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6ff2ec92b04141" /><Relationship Type="http://schemas.openxmlformats.org/officeDocument/2006/relationships/notesSlide" Target="/ppt/notesSlides/notesSlide2.xml" Id="Ra97c3461cc44427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7366055d834b6c" /><Relationship Type="http://schemas.openxmlformats.org/officeDocument/2006/relationships/notesSlide" Target="/ppt/notesSlides/notesSlide3.xml" Id="Rf238d8c7a37244d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0abdea45cc4359" /><Relationship Type="http://schemas.openxmlformats.org/officeDocument/2006/relationships/notesSlide" Target="/ppt/notesSlides/notesSlide4.xml" Id="Ree2da6e9a42549b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06f3f35e194d60" /><Relationship Type="http://schemas.openxmlformats.org/officeDocument/2006/relationships/notesSlide" Target="/ppt/notesSlides/notesSlide5.xml" Id="R2d79dc6f26f04a1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c7e638f28f4739" /><Relationship Type="http://schemas.openxmlformats.org/officeDocument/2006/relationships/chart" Target="/ppt/slides/charts/chart1.xml" Id="R60321cf57b824f85" /><Relationship Type="http://schemas.openxmlformats.org/officeDocument/2006/relationships/notesSlide" Target="/ppt/notesSlides/notesSlide6.xml" Id="Rd597ab387d2b4ab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8f73a83db04ebd" /><Relationship Type="http://schemas.openxmlformats.org/officeDocument/2006/relationships/chart" Target="/ppt/slides/charts/chart2.xml" Id="R2d7956c0aaee4351" /><Relationship Type="http://schemas.openxmlformats.org/officeDocument/2006/relationships/notesSlide" Target="/ppt/notesSlides/notesSlide7.xml" Id="R4398a64c73ce45e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89e436f30441c6" /><Relationship Type="http://schemas.openxmlformats.org/officeDocument/2006/relationships/notesSlide" Target="/ppt/notesSlides/notesSlide8.xml" Id="Ra573965cd215419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c4306f674646de" /><Relationship Type="http://schemas.openxmlformats.org/officeDocument/2006/relationships/notesSlide" Target="/ppt/notesSlides/notesSlide9.xml" Id="R2b326c7a773b44d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d260588eb34ca9" /><Relationship Type="http://schemas.openxmlformats.org/officeDocument/2006/relationships/notesSlide" Target="/ppt/notesSlides/notesSlide10.xml" Id="R9511ef362d8a4ca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62c13ea0a64290" /><Relationship Type="http://schemas.openxmlformats.org/officeDocument/2006/relationships/notesSlide" Target="/ppt/notesSlides/notesSlide11.xml" Id="R7d93de61af754d8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dac46aacd74cc8" /><Relationship Type="http://schemas.openxmlformats.org/officeDocument/2006/relationships/notesSlide" Target="/ppt/notesSlides/notesSlide12.xml" Id="Rc6f7ad39a5444f5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afcb56b9234267" /><Relationship Type="http://schemas.openxmlformats.org/officeDocument/2006/relationships/notesSlide" Target="/ppt/notesSlides/notesSlide13.xml" Id="Rfc8c810e8e9748e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4e13c112af489b" /><Relationship Type="http://schemas.openxmlformats.org/officeDocument/2006/relationships/notesSlide" Target="/ppt/notesSlides/notesSlide14.xml" Id="R22ccde0f3c6d4ba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BM25</c:v>
          </c:tx>
          <c:spPr>
            <a:solidFill xmlns:a="http://schemas.openxmlformats.org/drawingml/2006/main">
              <a:srgbClr val="142B3C"/>
            </a:solidFill>
          </c:spPr>
          <c:cat>
            <c:strRef>
              <c:f>'Chart Data'!$A$2:$A$4</c:f>
              <c:strCache>
                <c:ptCount val="3"/>
                <c:pt idx="0">
                  <c:v>SMOS</c:v>
                </c:pt>
                <c:pt idx="1">
                  <c:v>iTrust</c:v>
                </c:pt>
                <c:pt idx="2">
                  <c:v>eTour English</c:v>
                </c:pt>
              </c:strCache>
            </c:strRef>
          </c:cat>
          <c:val>
            <c:numRef>
              <c:f>'Chart Data'!$B$2:$B$4</c:f>
              <c:numCache>
                <c:formatCode>0.0000</c:formatCode>
                <c:ptCount val="3"/>
                <c:pt idx="0">
                  <c:v>0.2979</c:v>
                </c:pt>
                <c:pt idx="1">
                  <c:v>0.3787</c:v>
                </c:pt>
                <c:pt idx="2">
                  <c:v>0.3074</c:v>
                </c:pt>
              </c:numCache>
            </c:numRef>
          </c:val>
        </c:ser>
        <c:ser>
          <c:idx val="1"/>
          <c:order val="1"/>
          <c:tx>
            <c:v>Hybrid</c:v>
          </c:tx>
          <c:spPr>
            <a:solidFill xmlns:a="http://schemas.openxmlformats.org/drawingml/2006/main">
              <a:srgbClr val="167B78"/>
            </a:solidFill>
          </c:spPr>
          <c:cat>
            <c:strRef>
              <c:f>'Chart Data'!$C$2:$C$4</c:f>
              <c:strCache>
                <c:ptCount val="3"/>
                <c:pt idx="0">
                  <c:v>SMOS</c:v>
                </c:pt>
                <c:pt idx="1">
                  <c:v>iTrust</c:v>
                </c:pt>
                <c:pt idx="2">
                  <c:v>eTour English</c:v>
                </c:pt>
              </c:strCache>
            </c:strRef>
          </c:cat>
          <c:val>
            <c:numRef>
              <c:f>'Chart Data'!$D$2:$D$4</c:f>
              <c:numCache>
                <c:formatCode>0.0000</c:formatCode>
                <c:ptCount val="3"/>
                <c:pt idx="0">
                  <c:v>0.3026</c:v>
                </c:pt>
                <c:pt idx="1">
                  <c:v>0.3068</c:v>
                </c:pt>
                <c:pt idx="2">
                  <c:v>0.4406</c:v>
                </c:pt>
              </c:numCache>
            </c:numRef>
          </c:val>
        </c:ser>
        <c:ser>
          <c:idx val="2"/>
          <c:order val="2"/>
          <c:tx>
            <c:v>Hybrid + KG</c:v>
          </c:tx>
          <c:spPr>
            <a:solidFill xmlns:a="http://schemas.openxmlformats.org/drawingml/2006/main">
              <a:srgbClr val="AB7135"/>
            </a:solidFill>
          </c:spPr>
          <c:cat>
            <c:strRef>
              <c:f>'Chart Data'!$E$2:$E$4</c:f>
              <c:strCache>
                <c:ptCount val="3"/>
                <c:pt idx="0">
                  <c:v>SMOS</c:v>
                </c:pt>
                <c:pt idx="1">
                  <c:v>iTrust</c:v>
                </c:pt>
                <c:pt idx="2">
                  <c:v>eTour English</c:v>
                </c:pt>
              </c:strCache>
            </c:strRef>
          </c:cat>
          <c:val>
            <c:numRef>
              <c:f>'Chart Data'!$F$2:$F$4</c:f>
              <c:numCache>
                <c:formatCode>0.0000</c:formatCode>
                <c:ptCount val="3"/>
                <c:pt idx="0">
                  <c:v>0.2965</c:v>
                </c:pt>
                <c:pt idx="1">
                  <c:v>0.2958</c:v>
                </c:pt>
                <c:pt idx="2">
                  <c:v>0.4744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42B3C"/>
                  </a:solidFill>
                  <a:latin typeface="Bitstream Charter"/>
                  <a:ea typeface="Bitstream Charter"/>
                  <a:cs typeface="Bitstream Charte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FDADF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defRPr>
            </a:pPr>
          </a:p>
        </c:txPr>
        <c:crossAx val="48672768"/>
      </c:catAx>
      <c:valAx>
        <c:axId val="48672768"/>
        <c:scaling>
          <c:orientation val="minMax"/>
          <c:max val="0.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FDADF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778"/>
                </a:solidFill>
                <a:latin typeface="Bitstream Charter"/>
                <a:ea typeface="Bitstream Charter"/>
                <a:cs typeface="Bitstream Charter"/>
              </a:defRPr>
            </a:pPr>
          </a:p>
        </c:txPr>
        <c:crossAx val="48650112"/>
        <c:crossBetween val="between"/>
        <c:majorUnit val="0.1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solidFill>
                <a:srgbClr val="142B3C"/>
              </a:solidFill>
              <a:latin typeface="Bitstream Charter"/>
              <a:ea typeface="Bitstream Charter"/>
              <a:cs typeface="Bitstream Charter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Hybrid MAP</c:v>
          </c:tx>
          <c:spPr>
            <a:solidFill xmlns:a="http://schemas.openxmlformats.org/drawingml/2006/main">
              <a:srgbClr val="142B3C"/>
            </a:solidFill>
          </c:spPr>
          <c:cat>
            <c:strRef>
              <c:f>'Chart Data'!$A$2:$A$5</c:f>
              <c:strCache>
                <c:ptCount val="4"/>
                <c:pt idx="0">
                  <c:v>SMOS</c:v>
                </c:pt>
                <c:pt idx="1">
                  <c:v>iTrust</c:v>
                </c:pt>
                <c:pt idx="2">
                  <c:v>eTour English</c:v>
                </c:pt>
                <c:pt idx="3">
                  <c:v>RTMX modules</c:v>
                </c:pt>
              </c:strCache>
            </c:strRef>
          </c:cat>
          <c:val>
            <c:numRef>
              <c:f>'Chart Data'!$B$2:$B$5</c:f>
              <c:numCache>
                <c:formatCode>0.0000</c:formatCode>
                <c:ptCount val="4"/>
                <c:pt idx="0">
                  <c:v>0.3026</c:v>
                </c:pt>
                <c:pt idx="1">
                  <c:v>0.3068</c:v>
                </c:pt>
                <c:pt idx="2">
                  <c:v>0.4406</c:v>
                </c:pt>
                <c:pt idx="3">
                  <c:v>0.7515</c:v>
                </c:pt>
              </c:numCache>
            </c:numRef>
          </c:val>
        </c:ser>
        <c:ser>
          <c:idx val="1"/>
          <c:order val="1"/>
          <c:tx>
            <c:v>Hybrid + RAG MAP</c:v>
          </c:tx>
          <c:spPr>
            <a:solidFill xmlns:a="http://schemas.openxmlformats.org/drawingml/2006/main">
              <a:srgbClr val="167B78"/>
            </a:solidFill>
          </c:spPr>
          <c:cat>
            <c:strRef>
              <c:f>'Chart Data'!$C$2:$C$5</c:f>
              <c:strCache>
                <c:ptCount val="4"/>
                <c:pt idx="0">
                  <c:v>SMOS</c:v>
                </c:pt>
                <c:pt idx="1">
                  <c:v>iTrust</c:v>
                </c:pt>
                <c:pt idx="2">
                  <c:v>eTour English</c:v>
                </c:pt>
                <c:pt idx="3">
                  <c:v>RTMX modules</c:v>
                </c:pt>
              </c:strCache>
            </c:strRef>
          </c:cat>
          <c:val>
            <c:numRef>
              <c:f>'Chart Data'!$D$2:$D$5</c:f>
              <c:numCache>
                <c:formatCode>0.0000</c:formatCode>
                <c:ptCount val="4"/>
                <c:pt idx="0">
                  <c:v>0.3061</c:v>
                </c:pt>
                <c:pt idx="1">
                  <c:v>0.3043</c:v>
                </c:pt>
                <c:pt idx="2">
                  <c:v>0.4427</c:v>
                </c:pt>
                <c:pt idx="3">
                  <c:v>0.6985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42B3C"/>
                  </a:solidFill>
                  <a:latin typeface="Bitstream Charter"/>
                  <a:ea typeface="Bitstream Charter"/>
                  <a:cs typeface="Bitstream Charte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FDADF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defRPr>
            </a:pPr>
          </a:p>
        </c:txPr>
        <c:crossAx val="48672768"/>
      </c:catAx>
      <c:valAx>
        <c:axId val="48672768"/>
        <c:scaling>
          <c:orientation val="minMax"/>
          <c:max val="0.9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FDADF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778"/>
                </a:solidFill>
                <a:latin typeface="Bitstream Charter"/>
                <a:ea typeface="Bitstream Charter"/>
                <a:cs typeface="Bitstream Charter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solidFill>
                <a:srgbClr val="142B3C"/>
              </a:solidFill>
              <a:latin typeface="Bitstream Charter"/>
              <a:ea typeface="Bitstream Charter"/>
              <a:cs typeface="Bitstream Charter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B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E665AE-2A7D-4418-99E8-CE1AD8DDC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58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58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58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VIGILANT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287D01-E6CA-41D9-B1F4-3F14CD229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0"/>
            <a:ext cx="10382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0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Software changes, traceability</a:t>
            </a:r>
          </a:p>
          <a:p xmlns:a="http://schemas.openxmlformats.org/drawingml/2006/main">
            <a:pPr>
              <a:defRPr sz="30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and evidence-backed investigation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8E556B-4EF2-4909-813D-DDF6BF66E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91125"/>
            <a:ext cx="952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C8DEE4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C8DEE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C8DEE4"/>
                </a:solidFill>
                <a:latin typeface="Bitstream Charter"/>
                <a:ea typeface="Bitstream Charter"/>
                <a:cs typeface="Bitstream Charter"/>
              </a:rPr>
              <a:t>M.Tech research demonstration</a:t>
            </a:r>
          </a:p>
          <a:p xmlns:a="http://schemas.openxmlformats.org/drawingml/2006/main">
            <a:pPr>
              <a:defRPr sz="1950" b="0">
                <a:solidFill>
                  <a:srgbClr val="C8DEE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C8DEE4"/>
                </a:solidFill>
                <a:latin typeface="Bitstream Charter"/>
                <a:ea typeface="Bitstream Charter"/>
                <a:cs typeface="Bitstream Charter"/>
              </a:rPr>
              <a:t>8 October 2026</a:t>
            </a:r>
          </a:p>
        </p:txBody>
      </p:sp>
    </p:spTree>
    <p:extLst>
      <p:ext uri="{BB962C8B-B14F-4D97-AF65-F5344CB8AC3E}">
        <p14:creationId xmlns:p14="http://schemas.microsoft.com/office/powerpoint/2010/main" val="19988458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CDA710-E49F-4B3D-BC12-97987C299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rPr>
              <a:t>Research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998B71-2D29-4F36-BCB3-B5CE61C5A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1">
                <a:solidFill>
                  <a:srgbClr val="167B78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7B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167B78"/>
                </a:solidFill>
                <a:latin typeface="Bitstream Charter"/>
                <a:ea typeface="Bitstream Charter"/>
                <a:cs typeface="Bitstream Charter"/>
              </a:rPr>
              <a:t>Change detection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08FD6B-05AF-4825-B3A7-F53D3C689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714500"/>
            <a:ext cx="7667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rPr>
              <a:t>Which versioned artifacts changed between two Git commits?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F98B75-4887-4526-8078-0B92B81F2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1">
                <a:solidFill>
                  <a:srgbClr val="167B78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7B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167B78"/>
                </a:solidFill>
                <a:latin typeface="Bitstream Charter"/>
                <a:ea typeface="Bitstream Charter"/>
                <a:cs typeface="Bitstream Charter"/>
              </a:rPr>
              <a:t>Traceability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8B37BF-DEC1-43FF-BF6F-FA0A534F8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762250"/>
            <a:ext cx="7667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rPr>
              <a:t>Which requirements, code and tests are relevant candidates?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196759-8676-4BA0-9451-4978129E6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1">
                <a:solidFill>
                  <a:srgbClr val="167B78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7B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167B78"/>
                </a:solidFill>
                <a:latin typeface="Bitstream Charter"/>
                <a:ea typeface="Bitstream Charter"/>
                <a:cs typeface="Bitstream Charter"/>
              </a:rPr>
              <a:t>Consistency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0566B4-2AF7-4909-A786-C902B191B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810000"/>
            <a:ext cx="7667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rPr>
              <a:t>What can the available source evidence support?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AC8DE6-0CA0-4030-8E29-DAADEACE4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1">
                <a:solidFill>
                  <a:srgbClr val="167B78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7B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167B78"/>
                </a:solidFill>
                <a:latin typeface="Bitstream Charter"/>
                <a:ea typeface="Bitstream Charter"/>
                <a:cs typeface="Bitstream Charter"/>
              </a:rPr>
              <a:t>Evaluation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8834F7-1AB5-4347-B687-6DFD5EBDA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857750"/>
            <a:ext cx="7667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rPr>
              <a:t>Do measured outcomes improve over appropriate baselines?</a:t>
            </a:r>
          </a:p>
        </p:txBody>
      </p:sp>
    </p:spTree>
    <p:extLst>
      <p:ext uri="{BB962C8B-B14F-4D97-AF65-F5344CB8AC3E}">
        <p14:creationId xmlns:p14="http://schemas.microsoft.com/office/powerpoint/2010/main" val="17634052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9F5F1A-7437-4E13-A32D-71680E800EE6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9977438" y="4143375"/>
            <a:ext cx="0" cy="762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7B78"/>
            </a:solidFill>
            <a:prstDash val="solid"/>
            <a:tailEnd type="triangle" w="sm" len="sm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C16ED9-9DCC-40E9-A129-E66BF60741B5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6953250" y="3762375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7B78"/>
            </a:solidFill>
            <a:prstDash val="solid"/>
            <a:tailEnd type="triangle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CF6978-E8A7-4D97-A5D4-144CC5871479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9977438" y="2476500"/>
            <a:ext cx="0" cy="904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7B78"/>
            </a:solidFill>
            <a:prstDash val="solid"/>
            <a:tailEnd type="triangle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D499F5-C044-4C74-BDF7-BFE27653A25F}"/>
              </a:ext>
            </a:extLst>
          </p:cNvPr>
          <p:cNvCxnSpPr>
            <a:stCxn xmlns:a="http://schemas.openxmlformats.org/drawingml/2006/main" id="3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>
            <a:off x="5381625" y="2476500"/>
            <a:ext cx="0" cy="904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7B78"/>
            </a:solidFill>
            <a:prstDash val="solid"/>
            <a:tailEnd type="triangle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0940E3-0215-4766-AA98-989690492E71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6953250" y="2095500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7B78"/>
            </a:solidFill>
            <a:prstDash val="solid"/>
            <a:tailEnd type="triangle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F5BEAE-81C4-49ED-91B7-D4901A2B5AA2}"/>
              </a:ext>
            </a:extLst>
          </p:cNvPr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2943225" y="2095500"/>
            <a:ext cx="8667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7B78"/>
            </a:solidFill>
            <a:prstDash val="solid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FCFE85-780A-4684-A2CB-C76A5F54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rPr>
              <a:t>VIGILANT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705E4B-FAD3-4547-A7FF-F78E20B69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2333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5"/>
          </a:solidFill>
          <a:ln xmlns:a="http://schemas.openxmlformats.org/drawingml/2006/main" w="9525">
            <a:solidFill>
              <a:srgbClr val="CFDAD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rPr>
              <a:t>Git commits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9253B8-B944-452C-A12E-BDCBB0095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714500"/>
            <a:ext cx="3143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5"/>
          </a:solidFill>
          <a:ln xmlns:a="http://schemas.openxmlformats.org/drawingml/2006/main" w="9525">
            <a:solidFill>
              <a:srgbClr val="CFDAD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rPr>
              <a:t>Versioned artifacts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5C49DA-2241-4519-BD49-AF7353FDF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14500"/>
            <a:ext cx="319087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5"/>
          </a:solidFill>
          <a:ln xmlns:a="http://schemas.openxmlformats.org/drawingml/2006/main" w="9525">
            <a:solidFill>
              <a:srgbClr val="CFDAD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rPr>
              <a:t>Hybrid retrieval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938C3E-7A01-419B-8FE2-77676DB91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381375"/>
            <a:ext cx="3143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5"/>
          </a:solidFill>
          <a:ln xmlns:a="http://schemas.openxmlformats.org/drawingml/2006/main" w="9525">
            <a:solidFill>
              <a:srgbClr val="CFDAD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rPr>
              <a:t>Structural graph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182AA7-FCA7-4836-8765-A4FCA5A16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81375"/>
            <a:ext cx="319087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5"/>
          </a:solidFill>
          <a:ln xmlns:a="http://schemas.openxmlformats.org/drawingml/2006/main" w="9525">
            <a:solidFill>
              <a:srgbClr val="CFDAD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rPr>
              <a:t>Evidence + tools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23905B-C572-4431-A45B-FE07322E6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905375"/>
            <a:ext cx="319087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5"/>
          </a:solidFill>
          <a:ln xmlns:a="http://schemas.openxmlformats.org/drawingml/2006/main" w="9525">
            <a:solidFill>
              <a:srgbClr val="CFDAD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rPr>
              <a:t>Rules + model</a:t>
            </a:r>
          </a:p>
          <a:p xmlns:a="http://schemas.openxmlformats.org/drawingml/2006/main">
            <a:pPr algn="ctr">
              <a:defRPr sz="1950" b="1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rPr>
              <a:t>Report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15450E-85E2-4834-B555-860F65222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526778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7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526778"/>
                </a:solidFill>
                <a:latin typeface="Bitstream Charter"/>
                <a:ea typeface="Bitstream Charter"/>
                <a:cs typeface="Bitstream Charter"/>
              </a:rPr>
              <a:t>Evidence retains commit, path, line range and content hash. The local API serves persisted records to the frontend.</a:t>
            </a:r>
          </a:p>
        </p:txBody>
      </p:sp>
    </p:spTree>
    <p:extLst>
      <p:ext uri="{BB962C8B-B14F-4D97-AF65-F5344CB8AC3E}">
        <p14:creationId xmlns:p14="http://schemas.microsoft.com/office/powerpoint/2010/main" val="6493333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C8D607-F4ED-4429-841E-A52DEF6641A4}"/>
              </a:ext>
            </a:extLst>
          </p:cNvPr>
          <p:cNvCxnSpPr>
            <a:stCxn xmlns:a="http://schemas.openxmlformats.org/drawingml/2006/main" id="5" idx="1"/>
            <a:endCxn xmlns:a="http://schemas.openxmlformats.org/drawingml/2006/main" id="4" idx="3"/>
          </p:cNvCxnSpPr>
          <p:nvPr/>
        </p:nvCxnSpPr>
        <p:spPr>
          <a:xfrm xmlns:a="http://schemas.openxmlformats.org/drawingml/2006/main" flipH="1">
            <a:off x="7572375" y="2857500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7B78"/>
            </a:solidFill>
            <a:prstDash val="solid"/>
            <a:tailEnd type="triangle" w="sm" len="sm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46EEF5-9A2D-478D-88A5-4A7A78F98324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276600" y="2857500"/>
            <a:ext cx="13430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7B78"/>
            </a:solidFill>
            <a:prstDash val="solid"/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10EE33-C4DF-447D-BDEF-E262FCD0D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rPr>
              <a:t>Knowledge graph around the changed 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6F164C-D7C6-428E-BA1A-A4D02C4FE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1">
                <a:solidFill>
                  <a:srgbClr val="167B78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67B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167B78"/>
                </a:solidFill>
                <a:latin typeface="Bitstream Charter"/>
                <a:ea typeface="Bitstream Charter"/>
                <a:cs typeface="Bitstream Charter"/>
              </a:rPr>
              <a:t>Baseline commit 1762ada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9F0571-4C65-4DFF-A6D8-C2BCD371B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2667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5"/>
          </a:solidFill>
          <a:ln xmlns:a="http://schemas.openxmlformats.org/drawingml/2006/main" w="9525">
            <a:solidFill>
              <a:srgbClr val="CFDAD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rPr>
              <a:t>read_item</a:t>
            </a:r>
          </a:p>
          <a:p xmlns:a="http://schemas.openxmlformats.org/drawingml/2006/main">
            <a:pPr algn="ctr">
              <a:defRPr sz="1950" b="1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rPr>
              <a:t>Backend function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E27A82-C3BC-40DD-82DA-A5081FCD4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428875"/>
            <a:ext cx="2952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5"/>
          </a:solidFill>
          <a:ln xmlns:a="http://schemas.openxmlformats.org/drawingml/2006/main" w="9525">
            <a:solidFill>
              <a:srgbClr val="CFDAD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rPr>
              <a:t>GET /items/{id}</a:t>
            </a:r>
          </a:p>
          <a:p xmlns:a="http://schemas.openxmlformats.org/drawingml/2006/main">
            <a:pPr algn="ctr">
              <a:defRPr sz="1950" b="1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rPr>
              <a:t>API artifact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A56991-FBDC-4FE2-BDB1-45A8ACCF4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428875"/>
            <a:ext cx="2667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5"/>
          </a:solidFill>
          <a:ln xmlns:a="http://schemas.openxmlformats.org/drawingml/2006/main" w="9525">
            <a:solidFill>
              <a:srgbClr val="CFDAD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rPr>
              <a:t>readItem</a:t>
            </a:r>
          </a:p>
          <a:p xmlns:a="http://schemas.openxmlformats.org/drawingml/2006/main">
            <a:pPr algn="ctr">
              <a:defRPr sz="1950" b="1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rPr>
              <a:t>Frontend caller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A3AA9A-7A3E-4500-80B0-1302D222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009775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1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rPr>
              <a:t>EXPOSES_API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26C4EB-C8A1-4B01-B185-088A7667F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00977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1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rPr>
              <a:t>CONSUMES_API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54259B-20BC-49AF-9C6A-3484C6F38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1">
                <a:solidFill>
                  <a:srgbClr val="167B78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67B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167B78"/>
                </a:solidFill>
                <a:latin typeface="Bitstream Charter"/>
                <a:ea typeface="Bitstream Charter"/>
                <a:cs typeface="Bitstream Charter"/>
              </a:rPr>
              <a:t>Changed commit 892a3d5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A7C706-5D26-4AA3-88AB-04CF91923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1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rPr>
              <a:t>Backend now exposes /catalog/{id}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1E8C82-18A7-4D0D-A578-FF6D5A713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rPr>
              <a:t>Frontend keeps /api/v1/items/{id}. Its old API match disappears.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103B9E-53DE-4450-9622-461C583CD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526778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7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526778"/>
                </a:solidFill>
                <a:latin typeface="Bitstream Charter"/>
                <a:ea typeface="Bitstream Charter"/>
                <a:cs typeface="Bitstream Charter"/>
              </a:rPr>
              <a:t>The investigation compares both snapshots. A missing graph endpoint prompts review of the replacement.</a:t>
            </a:r>
          </a:p>
        </p:txBody>
      </p:sp>
    </p:spTree>
    <p:extLst>
      <p:ext uri="{BB962C8B-B14F-4D97-AF65-F5344CB8AC3E}">
        <p14:creationId xmlns:p14="http://schemas.microsoft.com/office/powerpoint/2010/main" val="2334798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81A2F8-C652-4850-9A97-95429DD98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rPr>
              <a:t>Evaluation populations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8BE0CF-7594-4382-B1FE-CCCDE0BEF69A}"/>
              </a:ext>
            </a:extLst>
          </p:cNvPr>
          <p:cNvGraphicFramePr/>
          <p:nvPr/>
        </p:nvGraphicFramePr>
        <p:xfrm>
          <a:off xmlns:a="http://schemas.openxmlformats.org/drawingml/2006/main" x="609600" y="1762125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2000250"/>
                <a:gridCol w="2095500"/>
                <a:gridCol w="1714500"/>
                <a:gridCol w="2019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Dataset</a:t>
                      </a:r>
                    </a:p>
                  </a:txBody>
                  <a:tcPr marL="91440" marR="91440" marT="45720" marB="45720">
                    <a:solidFill>
                      <a:srgbClr val="142B3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Requirements</a:t>
                      </a:r>
                    </a:p>
                  </a:txBody>
                  <a:tcPr marL="91440" marR="91440" marT="45720" marB="45720">
                    <a:solidFill>
                      <a:srgbClr val="142B3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Linked queries</a:t>
                      </a:r>
                    </a:p>
                  </a:txBody>
                  <a:tcPr marL="91440" marR="91440" marT="45720" marB="45720">
                    <a:solidFill>
                      <a:srgbClr val="142B3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Targets</a:t>
                      </a:r>
                    </a:p>
                  </a:txBody>
                  <a:tcPr marL="91440" marR="91440" marT="45720" marB="45720">
                    <a:solidFill>
                      <a:srgbClr val="142B3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Gold links</a:t>
                      </a:r>
                    </a:p>
                  </a:txBody>
                  <a:tcPr marL="91440" marR="91440" marT="45720" marB="45720">
                    <a:solidFill>
                      <a:srgbClr val="142B3C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B3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SMOS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B3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67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B3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67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B3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100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B3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1044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B3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iTrust</a:t>
                      </a:r>
                    </a:p>
                  </a:txBody>
                  <a:tcPr marL="91440" marR="91440" marT="45720" marB="45720">
                    <a:solidFill>
                      <a:srgbClr val="F3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B3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131</a:t>
                      </a:r>
                    </a:p>
                  </a:txBody>
                  <a:tcPr marL="91440" marR="91440" marT="45720" marB="45720">
                    <a:solidFill>
                      <a:srgbClr val="F3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B3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105</a:t>
                      </a:r>
                    </a:p>
                  </a:txBody>
                  <a:tcPr marL="91440" marR="91440" marT="45720" marB="45720">
                    <a:solidFill>
                      <a:srgbClr val="F3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B3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226</a:t>
                      </a:r>
                    </a:p>
                  </a:txBody>
                  <a:tcPr marL="91440" marR="91440" marT="45720" marB="45720">
                    <a:solidFill>
                      <a:srgbClr val="F3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B3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286</a:t>
                      </a:r>
                    </a:p>
                  </a:txBody>
                  <a:tcPr marL="91440" marR="91440" marT="45720" marB="45720">
                    <a:solidFill>
                      <a:srgbClr val="F3F6F7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B3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eTour English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B3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58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B3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57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B3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116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B3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308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B3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RTMX modules</a:t>
                      </a:r>
                    </a:p>
                  </a:txBody>
                  <a:tcPr marL="91440" marR="91440" marT="45720" marB="45720">
                    <a:solidFill>
                      <a:srgbClr val="F3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B3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22</a:t>
                      </a:r>
                    </a:p>
                  </a:txBody>
                  <a:tcPr marL="91440" marR="91440" marT="45720" marB="45720">
                    <a:solidFill>
                      <a:srgbClr val="F3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B3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22</a:t>
                      </a:r>
                    </a:p>
                  </a:txBody>
                  <a:tcPr marL="91440" marR="91440" marT="45720" marB="45720">
                    <a:solidFill>
                      <a:srgbClr val="F3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B3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3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B3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22</a:t>
                      </a:r>
                    </a:p>
                  </a:txBody>
                  <a:tcPr marL="91440" marR="91440" marT="45720" marB="45720">
                    <a:solidFill>
                      <a:srgbClr val="F3F6F7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E9EB22-0F85-41C5-9F7F-281802C0A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526778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7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526778"/>
                </a:solidFill>
                <a:latin typeface="Bitstream Charter"/>
                <a:ea typeface="Bitstream Charter"/>
                <a:cs typeface="Bitstream Charter"/>
              </a:rPr>
              <a:t>Ranking uses linked queries only. RTMX has seven modules. Controlled changes and SAFA have separate ground-truth scopes.</a:t>
            </a:r>
          </a:p>
        </p:txBody>
      </p:sp>
    </p:spTree>
    <p:extLst>
      <p:ext uri="{BB962C8B-B14F-4D97-AF65-F5344CB8AC3E}">
        <p14:creationId xmlns:p14="http://schemas.microsoft.com/office/powerpoint/2010/main" val="10551636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AC519E-2920-4BC2-B989-F2F152321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rPr>
              <a:t>Graph context has mixed ranking effects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65FB82A4-50D2-4892-BC67-EC87AFED7C76}"/>
              </a:ext>
            </a:extLst>
          </p:cNvPr>
          <p:cNvGraphicFramePr/>
          <p:nvPr/>
        </p:nvGraphicFramePr>
        <p:xfrm>
          <a:off xmlns:a="http://schemas.openxmlformats.org/drawingml/2006/main" x="666750" y="1638300"/>
          <a:ext xmlns:a="http://schemas.openxmlformats.org/drawingml/2006/main" cx="108585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0321cf57b824f85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ECBF30-FC72-498F-82F7-3E1F8CDBE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526778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7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526778"/>
                </a:solidFill>
                <a:latin typeface="Bitstream Charter"/>
                <a:ea typeface="Bitstream Charter"/>
                <a:cs typeface="Bitstream Charter"/>
              </a:rPr>
              <a:t>Mean average precision, higher is better. On eTour, graph MAP rises while micro F1@10 falls from 0.3804 to 0.3713.</a:t>
            </a:r>
          </a:p>
        </p:txBody>
      </p:sp>
    </p:spTree>
    <p:extLst>
      <p:ext uri="{BB962C8B-B14F-4D97-AF65-F5344CB8AC3E}">
        <p14:creationId xmlns:p14="http://schemas.microsoft.com/office/powerpoint/2010/main" val="179173829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4F8521-7D94-4BCD-9A3F-A90449274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rPr>
              <a:t>RAG produces mixed MAP results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276A5B0B-ECAD-414B-85AE-34878D451938}"/>
              </a:ext>
            </a:extLst>
          </p:cNvPr>
          <p:cNvGraphicFramePr/>
          <p:nvPr/>
        </p:nvGraphicFramePr>
        <p:xfrm>
          <a:off xmlns:a="http://schemas.openxmlformats.org/drawingml/2006/main" x="666750" y="1638300"/>
          <a:ext xmlns:a="http://schemas.openxmlformats.org/drawingml/2006/main" cx="108585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d7956c0aaee4351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8DDD00-D604-497E-8A2A-8F7EA9020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526778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7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526778"/>
                </a:solidFill>
                <a:latin typeface="Bitstream Charter"/>
                <a:ea typeface="Bitstream Charter"/>
                <a:cs typeface="Bitstream Charter"/>
              </a:rPr>
              <a:t>251 actual generations. MAP decreases on iTrust and RTMX. Reranking only the first five candidates leaves Recall@5 and @10 unchanged.</a:t>
            </a:r>
          </a:p>
        </p:txBody>
      </p:sp>
    </p:spTree>
    <p:extLst>
      <p:ext uri="{BB962C8B-B14F-4D97-AF65-F5344CB8AC3E}">
        <p14:creationId xmlns:p14="http://schemas.microsoft.com/office/powerpoint/2010/main" val="12354980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48E421-E27B-4D2F-9C0C-A7328AF88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rPr>
              <a:t>The local model abstains in every case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B7D334-9973-4DB4-91D2-481FFEA0C8C2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095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1238250"/>
                <a:gridCol w="2381250"/>
                <a:gridCol w="2286000"/>
                <a:gridCol w="2495550"/>
              </a:tblGrid>
              <a:tr h="5159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Variant</a:t>
                      </a:r>
                    </a:p>
                  </a:txBody>
                  <a:tcPr marL="91440" marR="91440" marT="45720" marB="45720">
                    <a:solidFill>
                      <a:srgbClr val="142B3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Calls</a:t>
                      </a:r>
                    </a:p>
                  </a:txBody>
                  <a:tcPr marL="91440" marR="91440" marT="45720" marB="45720">
                    <a:solidFill>
                      <a:srgbClr val="142B3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Label agreement</a:t>
                      </a:r>
                    </a:p>
                  </a:txBody>
                  <a:tcPr marL="91440" marR="91440" marT="45720" marB="45720">
                    <a:solidFill>
                      <a:srgbClr val="142B3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Uncertainty</a:t>
                      </a:r>
                    </a:p>
                  </a:txBody>
                  <a:tcPr marL="91440" marR="91440" marT="45720" marB="45720">
                    <a:solidFill>
                      <a:srgbClr val="142B3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Endpoint recall</a:t>
                      </a:r>
                    </a:p>
                  </a:txBody>
                  <a:tcPr marL="91440" marR="91440" marT="45720" marB="45720">
                    <a:solidFill>
                      <a:srgbClr val="142B3C"/>
                    </a:solidFill>
                  </a:tcPr>
                </a:tc>
              </a:tr>
              <a:tr h="5159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B3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B3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B3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25%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B3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100%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B3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0.00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59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B3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F</a:t>
                      </a:r>
                    </a:p>
                  </a:txBody>
                  <a:tcPr marL="91440" marR="91440" marT="45720" marB="45720">
                    <a:solidFill>
                      <a:srgbClr val="F3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B3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12</a:t>
                      </a:r>
                    </a:p>
                  </a:txBody>
                  <a:tcPr marL="91440" marR="91440" marT="45720" marB="45720">
                    <a:solidFill>
                      <a:srgbClr val="F3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B3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25%</a:t>
                      </a:r>
                    </a:p>
                  </a:txBody>
                  <a:tcPr marL="91440" marR="91440" marT="45720" marB="45720">
                    <a:solidFill>
                      <a:srgbClr val="F3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B3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100%</a:t>
                      </a:r>
                    </a:p>
                  </a:txBody>
                  <a:tcPr marL="91440" marR="91440" marT="45720" marB="45720">
                    <a:solidFill>
                      <a:srgbClr val="F3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B3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0.00</a:t>
                      </a:r>
                    </a:p>
                  </a:txBody>
                  <a:tcPr marL="91440" marR="91440" marT="45720" marB="45720">
                    <a:solidFill>
                      <a:srgbClr val="F3F6F7"/>
                    </a:solidFill>
                  </a:tcPr>
                </a:tc>
              </a:tr>
              <a:tr h="5159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B3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B3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B3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25%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B3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100%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B3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0.20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59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B3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H</a:t>
                      </a:r>
                    </a:p>
                  </a:txBody>
                  <a:tcPr marL="91440" marR="91440" marT="45720" marB="45720">
                    <a:solidFill>
                      <a:srgbClr val="F3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B3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12</a:t>
                      </a:r>
                    </a:p>
                  </a:txBody>
                  <a:tcPr marL="91440" marR="91440" marT="45720" marB="45720">
                    <a:solidFill>
                      <a:srgbClr val="F3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B3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25%</a:t>
                      </a:r>
                    </a:p>
                  </a:txBody>
                  <a:tcPr marL="91440" marR="91440" marT="45720" marB="45720">
                    <a:solidFill>
                      <a:srgbClr val="F3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B3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100%</a:t>
                      </a:r>
                    </a:p>
                  </a:txBody>
                  <a:tcPr marL="91440" marR="91440" marT="45720" marB="45720">
                    <a:solidFill>
                      <a:srgbClr val="F3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B3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0.32</a:t>
                      </a:r>
                    </a:p>
                  </a:txBody>
                  <a:tcPr marL="91440" marR="91440" marT="45720" marB="45720">
                    <a:solidFill>
                      <a:srgbClr val="F3F6F7"/>
                    </a:solidFill>
                  </a:tcPr>
                </a:tc>
              </a:tr>
              <a:tr h="5159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B3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B3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B3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25%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B3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100%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B3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0.72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C91F20-3578-4F69-873D-C404C812C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967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rPr>
              <a:t>E: LLM only   F: RAG   G: + graph   H: + tools   I: + temporal context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228F6B-A3B9-4FF0-B557-1CE5D12D8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526778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7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526778"/>
                </a:solidFill>
                <a:latin typeface="Bitstream Charter"/>
                <a:ea typeface="Bitstream Charter"/>
                <a:cs typeface="Bitstream Charter"/>
              </a:rPr>
              <a:t>All variants match the always-UNCERTAIN baseline at 25% authored-label agreement. Endpoint recall uses a partial authored oracle.</a:t>
            </a:r>
          </a:p>
        </p:txBody>
      </p:sp>
    </p:spTree>
    <p:extLst>
      <p:ext uri="{BB962C8B-B14F-4D97-AF65-F5344CB8AC3E}">
        <p14:creationId xmlns:p14="http://schemas.microsoft.com/office/powerpoint/2010/main" val="12672657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1C37E4-C747-4AEE-BC57-88C133706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rPr>
              <a:t>Recorded API-change demonstration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51055C-1393-4045-8B3E-EB3C52D51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1">
                <a:solidFill>
                  <a:srgbClr val="167B78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7B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167B78"/>
                </a:solidFill>
                <a:latin typeface="Bitstream Charter"/>
                <a:ea typeface="Bitstream Charter"/>
                <a:cs typeface="Bitstream Charter"/>
              </a:rPr>
              <a:t>Backend change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5CB6B7-E24A-4FD0-9B3A-E9885E4F2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762125"/>
            <a:ext cx="7667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rPr>
              <a:t>Route prefix changes from /items to /catalog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293569-7315-4130-B81E-17C0546F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1">
                <a:solidFill>
                  <a:srgbClr val="167B78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7B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167B78"/>
                </a:solidFill>
                <a:latin typeface="Bitstream Charter"/>
                <a:ea typeface="Bitstream Charter"/>
                <a:cs typeface="Bitstream Charter"/>
              </a:rPr>
              <a:t>Unchanged client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E53C8C-433D-4C0B-9186-69B4A281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857500"/>
            <a:ext cx="7667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rPr>
              <a:t>url: '/api/v1/items/{id}'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82B97F-D56C-4AFF-A584-242ED1B68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1">
                <a:solidFill>
                  <a:srgbClr val="167B78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7B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167B78"/>
                </a:solidFill>
                <a:latin typeface="Bitstream Charter"/>
                <a:ea typeface="Bitstream Charter"/>
                <a:cs typeface="Bitstream Charter"/>
              </a:rPr>
              <a:t>Rule finding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6E751B-0E26-48E1-8058-C3E5222E9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952875"/>
            <a:ext cx="7667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rPr>
              <a:t>POTENTIAL_INCONSISTENCY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236BEA-E021-49A1-B40A-18DA83927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1">
                <a:solidFill>
                  <a:srgbClr val="167B78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7B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167B78"/>
                </a:solidFill>
                <a:latin typeface="Bitstream Charter"/>
                <a:ea typeface="Bitstream Charter"/>
                <a:cs typeface="Bitstream Charter"/>
              </a:rPr>
              <a:t>Model decision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58CC45-14CE-42E0-B481-5C6C5F960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000625"/>
            <a:ext cx="7667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rPr>
              <a:t>UNCERTAIN</a:t>
            </a:r>
          </a:p>
        </p:txBody>
      </p:sp>
    </p:spTree>
    <p:extLst>
      <p:ext uri="{BB962C8B-B14F-4D97-AF65-F5344CB8AC3E}">
        <p14:creationId xmlns:p14="http://schemas.microsoft.com/office/powerpoint/2010/main" val="4365143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3C4892-7858-49AD-87F8-37833A879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rPr>
              <a:t>Investigation trajectory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D0F770-C155-4477-8A93-C6A532890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1">
                <a:solidFill>
                  <a:srgbClr val="167B78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7B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167B78"/>
                </a:solidFill>
                <a:latin typeface="Bitstream Charter"/>
                <a:ea typeface="Bitstream Charter"/>
                <a:cs typeface="Bitstream Charter"/>
              </a:rPr>
              <a:t>1–3  Repository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BE9ED0-E7E5-4A12-892A-347705008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666875"/>
            <a:ext cx="7667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rPr>
              <a:t>Resolve commits, import snapshots, detect changed symbols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05332A-A38D-4CB4-BF8D-9FD60920A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1">
                <a:solidFill>
                  <a:srgbClr val="167B78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7B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167B78"/>
                </a:solidFill>
                <a:latin typeface="Bitstream Charter"/>
                <a:ea typeface="Bitstream Charter"/>
                <a:cs typeface="Bitstream Charter"/>
              </a:rPr>
              <a:t>4–6  Graph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1BC7A4-7FD5-453F-9E59-E9FA6D583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667000"/>
            <a:ext cx="7667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rPr>
              <a:t>Build both snapshots and traverse affected candidates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76E41D-9604-4C26-AB58-D9DF5532D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1">
                <a:solidFill>
                  <a:srgbClr val="167B78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7B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167B78"/>
                </a:solidFill>
                <a:latin typeface="Bitstream Charter"/>
                <a:ea typeface="Bitstream Charter"/>
                <a:cs typeface="Bitstream Charter"/>
              </a:rPr>
              <a:t>7–9 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2B3680-ECA1-4254-ADDE-97642C421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667125"/>
            <a:ext cx="7667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rPr>
              <a:t>Recover trace candidates, retrieve context, apply rules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6724E3-8120-49DA-9133-D47608215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1">
                <a:solidFill>
                  <a:srgbClr val="167B78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7B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167B78"/>
                </a:solidFill>
                <a:latin typeface="Bitstream Charter"/>
                <a:ea typeface="Bitstream Charter"/>
                <a:cs typeface="Bitstream Charter"/>
              </a:rPr>
              <a:t>10–12  Decision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768C02-5C96-48CF-B56F-D730A11DB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667250"/>
            <a:ext cx="7667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rPr>
              <a:t>Verify source excerpts, call the model, persist the report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478424-1CAD-4168-A73D-B5EAB3443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526778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7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526778"/>
                </a:solidFill>
                <a:latin typeface="Bitstream Charter"/>
                <a:ea typeface="Bitstream Charter"/>
                <a:cs typeface="Bitstream Charter"/>
              </a:rPr>
              <a:t>Twelve successful tool stages. Eleven changed artifact records, 33 impact candidates and 24 verified excerpts.</a:t>
            </a:r>
          </a:p>
        </p:txBody>
      </p:sp>
    </p:spTree>
    <p:extLst>
      <p:ext uri="{BB962C8B-B14F-4D97-AF65-F5344CB8AC3E}">
        <p14:creationId xmlns:p14="http://schemas.microsoft.com/office/powerpoint/2010/main" val="40081524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A96CA5-0DF8-49D3-AFAE-9D544B4CD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rPr>
              <a:t>Evidence and interpretation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777824-F0B7-48A0-BC56-1EFA6CAB0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1">
                <a:solidFill>
                  <a:srgbClr val="167B78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7B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167B78"/>
                </a:solidFill>
                <a:latin typeface="Bitstream Charter"/>
                <a:ea typeface="Bitstream Charter"/>
                <a:cs typeface="Bitstream Charter"/>
              </a:rPr>
              <a:t>frontend/src/client/sdk.gen.ts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6004B8-1960-45BD-B137-7DFCC87DA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rPr>
              <a:t>url: '/api/v1/items/{id}',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C16270-5D1C-407C-A7C6-E0CBADD0F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526778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267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526778"/>
                </a:solidFill>
                <a:latin typeface="Bitstream Charter"/>
                <a:ea typeface="Bitstream Charter"/>
                <a:cs typeface="Bitstream Charter"/>
              </a:rPr>
              <a:t>Lines 340–343 at changed commit 892a3d5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72AF40-2671-40FC-9345-E9D3D6B50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0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rPr>
              <a:t>The client retains the old contract.</a:t>
            </a:r>
          </a:p>
          <a:p xmlns:a="http://schemas.openxmlformats.org/drawingml/2006/main">
            <a:pPr>
              <a:defRPr sz="2400" b="0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0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rPr>
              <a:t>The rule proposes an inconsistency for review.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DEC089-ACD4-46E7-9D53-D3382DF54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526778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7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526778"/>
                </a:solidFill>
                <a:latin typeface="Bitstream Charter"/>
                <a:ea typeface="Bitstream Charter"/>
                <a:cs typeface="Bitstream Charter"/>
              </a:rPr>
              <a:t>Fifteen rule findings share a route-renaming cause. They do not represent fifteen independent confirmed defects.</a:t>
            </a:r>
          </a:p>
        </p:txBody>
      </p:sp>
    </p:spTree>
    <p:extLst>
      <p:ext uri="{BB962C8B-B14F-4D97-AF65-F5344CB8AC3E}">
        <p14:creationId xmlns:p14="http://schemas.microsoft.com/office/powerpoint/2010/main" val="4396470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5FB491-B093-48BA-AB10-585928D82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rPr>
              <a:t>Reopening the saved demonstration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BDFB7C-C05D-4587-BE63-3AC39C375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1">
                <a:solidFill>
                  <a:srgbClr val="167B78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7B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167B78"/>
                </a:solidFill>
                <a:latin typeface="Bitstream Charter"/>
                <a:ea typeface="Bitstream Charter"/>
                <a:cs typeface="Bitstream Charter"/>
              </a:rPr>
              <a:t>1. Restore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C620BD-47B2-4735-839E-B6A44CEE4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619250"/>
            <a:ext cx="7667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rPr>
              <a:t>Use the complete project ZIP and included Windows installer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8936E9-F5C0-476E-B493-77E212772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1">
                <a:solidFill>
                  <a:srgbClr val="167B78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7B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167B78"/>
                </a:solidFill>
                <a:latin typeface="Bitstream Charter"/>
                <a:ea typeface="Bitstream Charter"/>
                <a:cs typeface="Bitstream Charter"/>
              </a:rPr>
              <a:t>2. Start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5DF8AE-33E0-42C6-9586-1C9F1C864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619375"/>
            <a:ext cx="7667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rPr>
              <a:t>Launch the local API and frontend with the saved setup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0BED9F-5464-4C7D-A814-336B21679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1">
                <a:solidFill>
                  <a:srgbClr val="167B78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7B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167B78"/>
                </a:solidFill>
                <a:latin typeface="Bitstream Charter"/>
                <a:ea typeface="Bitstream Charter"/>
                <a:cs typeface="Bitstream Charter"/>
              </a:rPr>
              <a:t>3. Inspect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5709EE-B6D9-4DED-BC54-BB428F49B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619500"/>
            <a:ext cx="7667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rPr>
              <a:t>Choose the API-change analysis for commit 892a3d5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C69A67-8688-4276-B6E3-224C75ED5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1">
                <a:solidFill>
                  <a:srgbClr val="167B78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7B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167B78"/>
                </a:solidFill>
                <a:latin typeface="Bitstream Charter"/>
                <a:ea typeface="Bitstream Charter"/>
                <a:cs typeface="Bitstream Charter"/>
              </a:rPr>
              <a:t>4.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851752-D473-48EF-AAD1-CC5640F3F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619625"/>
            <a:ext cx="7667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rPr>
              <a:t>Open graph, evidence, investigation and report views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4D2B4D-EBF5-4B28-84E4-932706E97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526778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7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526778"/>
                </a:solidFill>
                <a:latin typeface="Bitstream Charter"/>
                <a:ea typeface="Bitstream Charter"/>
                <a:cs typeface="Bitstream Charter"/>
              </a:rPr>
              <a:t>The recorded JSON report remains available if the browser is unavailable. Models restore from pinned manifests.</a:t>
            </a:r>
          </a:p>
        </p:txBody>
      </p:sp>
    </p:spTree>
    <p:extLst>
      <p:ext uri="{BB962C8B-B14F-4D97-AF65-F5344CB8AC3E}">
        <p14:creationId xmlns:p14="http://schemas.microsoft.com/office/powerpoint/2010/main" val="183625751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E9173C-C161-485C-B623-EDADABE49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rPr>
              <a:t>What the evidence supports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426DA3-4A9F-4B2E-96EA-F27E73106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1">
                <a:solidFill>
                  <a:srgbClr val="167B78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7B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167B78"/>
                </a:solidFill>
                <a:latin typeface="Bitstream Charter"/>
                <a:ea typeface="Bitstream Charter"/>
                <a:cs typeface="Bitstream Charter"/>
              </a:rPr>
              <a:t>Executed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CFCA8B-1DD7-47CF-9A29-32C8D9143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619250"/>
            <a:ext cx="7667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rPr>
              <a:t>Git changes, persisted graph, retrieval and tool investigation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EA45EB-F728-4662-BB9D-55F50E07A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1">
                <a:solidFill>
                  <a:srgbClr val="167B78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7B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167B78"/>
                </a:solidFill>
                <a:latin typeface="Bitstream Charter"/>
                <a:ea typeface="Bitstream Charter"/>
                <a:cs typeface="Bitstream Charter"/>
              </a:rPr>
              <a:t>Measured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B30B47-C87A-4D33-9D92-8CA2EAF2B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619375"/>
            <a:ext cx="7667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rPr>
              <a:t>251 RAG calls, 60 ablation calls and 12 controlled scenarios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0C57E0-57AB-4406-9ABD-378E280CF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1">
                <a:solidFill>
                  <a:srgbClr val="167B78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7B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167B78"/>
                </a:solidFill>
                <a:latin typeface="Bitstream Charter"/>
                <a:ea typeface="Bitstream Charter"/>
                <a:cs typeface="Bitstream Charter"/>
              </a:rPr>
              <a:t>Research finding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6C54A7-5855-4034-B84C-1AA52A9DA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619500"/>
            <a:ext cx="7667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rPr>
              <a:t>Mixed retrieval effects. No model classification gain established.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30843D-B3AC-4B86-BE01-E521B8EB7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1">
                <a:solidFill>
                  <a:srgbClr val="167B78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7B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167B78"/>
                </a:solidFill>
                <a:latin typeface="Bitstream Charter"/>
                <a:ea typeface="Bitstream Charter"/>
                <a:cs typeface="Bitstream Charter"/>
              </a:rPr>
              <a:t>Still required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13D611-6E3D-404A-891E-E3FE2BD77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619625"/>
            <a:ext cx="7667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rPr>
              <a:t>Independent labels, browser and Windows checks, institutional review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5AC37B-5701-489B-9B11-5C19DC933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526778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7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526778"/>
                </a:solidFill>
                <a:latin typeface="Bitstream Charter"/>
                <a:ea typeface="Bitstream Charter"/>
                <a:cs typeface="Bitstream Charter"/>
              </a:rPr>
              <a:t>The thesis and paper drafts report these limits. Publication and final university acceptance remain external decisions.</a:t>
            </a:r>
          </a:p>
        </p:txBody>
      </p:sp>
    </p:spTree>
    <p:extLst>
      <p:ext uri="{BB962C8B-B14F-4D97-AF65-F5344CB8AC3E}">
        <p14:creationId xmlns:p14="http://schemas.microsoft.com/office/powerpoint/2010/main" val="128826118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63B40C-1B5C-4EBA-94B3-4CCE0E11B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42B3C"/>
                </a:solidFill>
                <a:latin typeface="Bitstream Charter"/>
                <a:ea typeface="Bitstream Charter"/>
                <a:cs typeface="Bitstream Charter"/>
              </a:rPr>
              <a:t>Appendix: complete MAP comparison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FC81EA-532D-40D7-AF6C-0F867566BBB2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28900"/>
                <a:gridCol w="1390650"/>
                <a:gridCol w="1390650"/>
                <a:gridCol w="1390650"/>
                <a:gridCol w="1390650"/>
                <a:gridCol w="1390650"/>
                <a:gridCol w="1390650"/>
              </a:tblGrid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Dataset</a:t>
                      </a:r>
                    </a:p>
                  </a:txBody>
                  <a:tcPr marL="91440" marR="91440" marT="45720" marB="45720">
                    <a:solidFill>
                      <a:srgbClr val="142B3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TF-IDF</a:t>
                      </a:r>
                    </a:p>
                  </a:txBody>
                  <a:tcPr marL="91440" marR="91440" marT="45720" marB="45720">
                    <a:solidFill>
                      <a:srgbClr val="142B3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BM25</a:t>
                      </a:r>
                    </a:p>
                  </a:txBody>
                  <a:tcPr marL="91440" marR="91440" marT="45720" marB="45720">
                    <a:solidFill>
                      <a:srgbClr val="142B3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MiniLM</a:t>
                      </a:r>
                    </a:p>
                  </a:txBody>
                  <a:tcPr marL="91440" marR="91440" marT="45720" marB="45720">
                    <a:solidFill>
                      <a:srgbClr val="142B3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Hybrid</a:t>
                      </a:r>
                    </a:p>
                  </a:txBody>
                  <a:tcPr marL="91440" marR="91440" marT="45720" marB="45720">
                    <a:solidFill>
                      <a:srgbClr val="142B3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+KG</a:t>
                      </a:r>
                    </a:p>
                  </a:txBody>
                  <a:tcPr marL="91440" marR="91440" marT="45720" marB="45720">
                    <a:solidFill>
                      <a:srgbClr val="142B3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+RAG</a:t>
                      </a:r>
                    </a:p>
                  </a:txBody>
                  <a:tcPr marL="91440" marR="91440" marT="45720" marB="45720">
                    <a:solidFill>
                      <a:srgbClr val="142B3C"/>
                    </a:solidFill>
                  </a:tcPr>
                </a:tc>
              </a:tr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B3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SMOS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B3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0.2924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B3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0.2979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B3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0.2859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B3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0.3026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B3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0.2965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B3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0.3061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B3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iTrust</a:t>
                      </a:r>
                    </a:p>
                  </a:txBody>
                  <a:tcPr marL="91440" marR="91440" marT="45720" marB="45720">
                    <a:solidFill>
                      <a:srgbClr val="F3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B3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0.3160</a:t>
                      </a:r>
                    </a:p>
                  </a:txBody>
                  <a:tcPr marL="91440" marR="91440" marT="45720" marB="45720">
                    <a:solidFill>
                      <a:srgbClr val="F3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B3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0.3787</a:t>
                      </a:r>
                    </a:p>
                  </a:txBody>
                  <a:tcPr marL="91440" marR="91440" marT="45720" marB="45720">
                    <a:solidFill>
                      <a:srgbClr val="F3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B3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0.2061</a:t>
                      </a:r>
                    </a:p>
                  </a:txBody>
                  <a:tcPr marL="91440" marR="91440" marT="45720" marB="45720">
                    <a:solidFill>
                      <a:srgbClr val="F3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B3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0.3068</a:t>
                      </a:r>
                    </a:p>
                  </a:txBody>
                  <a:tcPr marL="91440" marR="91440" marT="45720" marB="45720">
                    <a:solidFill>
                      <a:srgbClr val="F3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B3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0.2958</a:t>
                      </a:r>
                    </a:p>
                  </a:txBody>
                  <a:tcPr marL="91440" marR="91440" marT="45720" marB="45720">
                    <a:solidFill>
                      <a:srgbClr val="F3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B3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0.3043</a:t>
                      </a:r>
                    </a:p>
                  </a:txBody>
                  <a:tcPr marL="91440" marR="91440" marT="45720" marB="45720">
                    <a:solidFill>
                      <a:srgbClr val="F3F6F7"/>
                    </a:solidFill>
                  </a:tcPr>
                </a:tc>
              </a:tr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B3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eTour English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B3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0.4102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B3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0.3074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B3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0.4492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B3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0.4406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B3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0.4744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B3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0.4427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B3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RTMX modules</a:t>
                      </a:r>
                    </a:p>
                  </a:txBody>
                  <a:tcPr marL="91440" marR="91440" marT="45720" marB="45720">
                    <a:solidFill>
                      <a:srgbClr val="F3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B3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0.7894</a:t>
                      </a:r>
                    </a:p>
                  </a:txBody>
                  <a:tcPr marL="91440" marR="91440" marT="45720" marB="45720">
                    <a:solidFill>
                      <a:srgbClr val="F3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B3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0.7606</a:t>
                      </a:r>
                    </a:p>
                  </a:txBody>
                  <a:tcPr marL="91440" marR="91440" marT="45720" marB="45720">
                    <a:solidFill>
                      <a:srgbClr val="F3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B3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0.6795</a:t>
                      </a:r>
                    </a:p>
                  </a:txBody>
                  <a:tcPr marL="91440" marR="91440" marT="45720" marB="45720">
                    <a:solidFill>
                      <a:srgbClr val="F3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B3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0.7515</a:t>
                      </a:r>
                    </a:p>
                  </a:txBody>
                  <a:tcPr marL="91440" marR="91440" marT="45720" marB="45720">
                    <a:solidFill>
                      <a:srgbClr val="F3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B3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Not run</a:t>
                      </a:r>
                    </a:p>
                  </a:txBody>
                  <a:tcPr marL="91440" marR="91440" marT="45720" marB="45720">
                    <a:solidFill>
                      <a:srgbClr val="F3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B3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0.6985</a:t>
                      </a:r>
                    </a:p>
                  </a:txBody>
                  <a:tcPr marL="91440" marR="91440" marT="45720" marB="45720">
                    <a:solidFill>
                      <a:srgbClr val="F3F6F7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9C2422-49DE-40A2-A10C-856A4A9DA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526778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77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526778"/>
                </a:solidFill>
                <a:latin typeface="Bitstream Charter"/>
                <a:ea typeface="Bitstream Charter"/>
                <a:cs typeface="Bitstream Charter"/>
              </a:rPr>
              <a:t>Separate arithmetic audits passed for 23 method rows and 1484 query rows. This verification does not replace independent semantic review.</a:t>
            </a:r>
          </a:p>
        </p:txBody>
      </p:sp>
    </p:spTree>
    <p:extLst>
      <p:ext uri="{BB962C8B-B14F-4D97-AF65-F5344CB8AC3E}">
        <p14:creationId xmlns:p14="http://schemas.microsoft.com/office/powerpoint/2010/main" val="10308972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2026-10-08T08:12:07.2230000Z</dcterms:created>
  <dcterms:modified xsi:type="dcterms:W3CDTF">2026-10-08T08:12:07.2230000Z</dcterms:modified>
</coreProperties>
</file>